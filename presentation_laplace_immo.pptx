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8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9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Am8H+W5ZMdScALFlpEYTiPpwt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96" autoAdjust="0"/>
  </p:normalViewPr>
  <p:slideViewPr>
    <p:cSldViewPr snapToGrid="0">
      <p:cViewPr varScale="1">
        <p:scale>
          <a:sx n="194" d="100"/>
          <a:sy n="194" d="100"/>
        </p:scale>
        <p:origin x="834" y="156"/>
      </p:cViewPr>
      <p:guideLst>
        <p:guide orient="horz" pos="162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262" name="Google Shape;26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b="0" dirty="0"/>
          </a:p>
        </p:txBody>
      </p:sp>
      <p:sp>
        <p:nvSpPr>
          <p:cNvPr id="272" name="Google Shape;27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80" name="Google Shape;28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0" dirty="0"/>
          </a:p>
        </p:txBody>
      </p:sp>
      <p:sp>
        <p:nvSpPr>
          <p:cNvPr id="288" name="Google Shape;28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97" name="Google Shape;29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06" name="Google Shape;30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16" name="Google Shape;31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6" name="Google Shape;32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37" name="Google Shape;33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46" name="Google Shape;34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56" name="Google Shape;35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66" name="Google Shape;36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E9FD228E-C0CF-4948-F8AF-BE2074A7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>
            <a:extLst>
              <a:ext uri="{FF2B5EF4-FFF2-40B4-BE49-F238E27FC236}">
                <a16:creationId xmlns:a16="http://schemas.microsoft.com/office/drawing/2014/main" id="{C5714257-7C63-99EE-26A6-C8C06984E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13:notes">
            <a:extLst>
              <a:ext uri="{FF2B5EF4-FFF2-40B4-BE49-F238E27FC236}">
                <a16:creationId xmlns:a16="http://schemas.microsoft.com/office/drawing/2014/main" id="{2FC93ACA-D165-7C31-B25E-0205BD306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66" name="Google Shape;366;p13:notes">
            <a:extLst>
              <a:ext uri="{FF2B5EF4-FFF2-40B4-BE49-F238E27FC236}">
                <a16:creationId xmlns:a16="http://schemas.microsoft.com/office/drawing/2014/main" id="{8B384BE8-E912-9F52-BE6E-B84EE347A5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7969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A672D9DD-5249-4108-2BFC-957C806D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>
            <a:extLst>
              <a:ext uri="{FF2B5EF4-FFF2-40B4-BE49-F238E27FC236}">
                <a16:creationId xmlns:a16="http://schemas.microsoft.com/office/drawing/2014/main" id="{5E368770-E7C9-8072-451C-767B1A8ED2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1:notes">
            <a:extLst>
              <a:ext uri="{FF2B5EF4-FFF2-40B4-BE49-F238E27FC236}">
                <a16:creationId xmlns:a16="http://schemas.microsoft.com/office/drawing/2014/main" id="{D2A943FF-3269-B4A0-D5E1-1666BB80F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46" name="Google Shape;346;p11:notes">
            <a:extLst>
              <a:ext uri="{FF2B5EF4-FFF2-40B4-BE49-F238E27FC236}">
                <a16:creationId xmlns:a16="http://schemas.microsoft.com/office/drawing/2014/main" id="{E14F0885-A34F-3CB5-B8D5-4720C3206C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5686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4AEDAE4A-2812-C59F-AA5C-9D62A7343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>
            <a:extLst>
              <a:ext uri="{FF2B5EF4-FFF2-40B4-BE49-F238E27FC236}">
                <a16:creationId xmlns:a16="http://schemas.microsoft.com/office/drawing/2014/main" id="{530AE97F-A563-82DE-5E19-FD3FA1D12C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1:notes">
            <a:extLst>
              <a:ext uri="{FF2B5EF4-FFF2-40B4-BE49-F238E27FC236}">
                <a16:creationId xmlns:a16="http://schemas.microsoft.com/office/drawing/2014/main" id="{E5D8DFA8-49B3-C45E-DCB1-9474433F2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46" name="Google Shape;346;p11:notes">
            <a:extLst>
              <a:ext uri="{FF2B5EF4-FFF2-40B4-BE49-F238E27FC236}">
                <a16:creationId xmlns:a16="http://schemas.microsoft.com/office/drawing/2014/main" id="{ED96DB5A-23B9-800F-A565-CEE8C522DC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175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C09FA36F-DD76-8E77-EA4A-893281152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>
            <a:extLst>
              <a:ext uri="{FF2B5EF4-FFF2-40B4-BE49-F238E27FC236}">
                <a16:creationId xmlns:a16="http://schemas.microsoft.com/office/drawing/2014/main" id="{9C5D1B68-3E48-540F-2EB1-65FBCF822C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1:notes">
            <a:extLst>
              <a:ext uri="{FF2B5EF4-FFF2-40B4-BE49-F238E27FC236}">
                <a16:creationId xmlns:a16="http://schemas.microsoft.com/office/drawing/2014/main" id="{FE520060-F44C-C48B-BCED-ABD300FA20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46" name="Google Shape;346;p11:notes">
            <a:extLst>
              <a:ext uri="{FF2B5EF4-FFF2-40B4-BE49-F238E27FC236}">
                <a16:creationId xmlns:a16="http://schemas.microsoft.com/office/drawing/2014/main" id="{696B2C16-22B9-7CAA-F5A6-48278FB873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5107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9C978753-67E1-075D-7000-C1056A80C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>
            <a:extLst>
              <a:ext uri="{FF2B5EF4-FFF2-40B4-BE49-F238E27FC236}">
                <a16:creationId xmlns:a16="http://schemas.microsoft.com/office/drawing/2014/main" id="{052B386A-4A09-BCFC-CCA6-DF534F089D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1:notes">
            <a:extLst>
              <a:ext uri="{FF2B5EF4-FFF2-40B4-BE49-F238E27FC236}">
                <a16:creationId xmlns:a16="http://schemas.microsoft.com/office/drawing/2014/main" id="{EE0BE615-7C9B-19D3-993A-F6B75076D5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46" name="Google Shape;346;p11:notes">
            <a:extLst>
              <a:ext uri="{FF2B5EF4-FFF2-40B4-BE49-F238E27FC236}">
                <a16:creationId xmlns:a16="http://schemas.microsoft.com/office/drawing/2014/main" id="{544B9CD9-4A8B-CA77-15D4-C140BF0A8F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37642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7114145E-C1EF-7858-91F9-2B772F3A9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>
            <a:extLst>
              <a:ext uri="{FF2B5EF4-FFF2-40B4-BE49-F238E27FC236}">
                <a16:creationId xmlns:a16="http://schemas.microsoft.com/office/drawing/2014/main" id="{8BE82040-2398-8D26-B63E-BFD2B42A89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1:notes">
            <a:extLst>
              <a:ext uri="{FF2B5EF4-FFF2-40B4-BE49-F238E27FC236}">
                <a16:creationId xmlns:a16="http://schemas.microsoft.com/office/drawing/2014/main" id="{BE5152AB-951B-A2D8-28CC-DB2BE7D3B2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46" name="Google Shape;346;p11:notes">
            <a:extLst>
              <a:ext uri="{FF2B5EF4-FFF2-40B4-BE49-F238E27FC236}">
                <a16:creationId xmlns:a16="http://schemas.microsoft.com/office/drawing/2014/main" id="{565120F2-E350-4218-0A7A-30516B62D8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693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6CC2D220-60A5-5CBF-9035-E25A1B459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>
            <a:extLst>
              <a:ext uri="{FF2B5EF4-FFF2-40B4-BE49-F238E27FC236}">
                <a16:creationId xmlns:a16="http://schemas.microsoft.com/office/drawing/2014/main" id="{0EE6A5CF-AB73-1E84-A3FE-B9F5D44C0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1:notes">
            <a:extLst>
              <a:ext uri="{FF2B5EF4-FFF2-40B4-BE49-F238E27FC236}">
                <a16:creationId xmlns:a16="http://schemas.microsoft.com/office/drawing/2014/main" id="{80F82015-483B-731A-4598-07E1FEE079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46" name="Google Shape;346;p11:notes">
            <a:extLst>
              <a:ext uri="{FF2B5EF4-FFF2-40B4-BE49-F238E27FC236}">
                <a16:creationId xmlns:a16="http://schemas.microsoft.com/office/drawing/2014/main" id="{74BC9EB4-32B5-F597-1979-36444C60F7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73667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3E677B4A-3ED3-C129-042F-185370F0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>
            <a:extLst>
              <a:ext uri="{FF2B5EF4-FFF2-40B4-BE49-F238E27FC236}">
                <a16:creationId xmlns:a16="http://schemas.microsoft.com/office/drawing/2014/main" id="{0255628A-C57F-76A0-5F47-3C955F25C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1:notes">
            <a:extLst>
              <a:ext uri="{FF2B5EF4-FFF2-40B4-BE49-F238E27FC236}">
                <a16:creationId xmlns:a16="http://schemas.microsoft.com/office/drawing/2014/main" id="{1FE0D1D7-66F8-AD9D-0D4F-1AA041C5B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46" name="Google Shape;346;p11:notes">
            <a:extLst>
              <a:ext uri="{FF2B5EF4-FFF2-40B4-BE49-F238E27FC236}">
                <a16:creationId xmlns:a16="http://schemas.microsoft.com/office/drawing/2014/main" id="{6BD34D58-B548-8C63-6712-EBF4F4EA99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0879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166D0D8F-070A-9D77-1E66-E24035A6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>
            <a:extLst>
              <a:ext uri="{FF2B5EF4-FFF2-40B4-BE49-F238E27FC236}">
                <a16:creationId xmlns:a16="http://schemas.microsoft.com/office/drawing/2014/main" id="{FE2D36BC-7E61-6EB1-3E8D-899E4E64F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1:notes">
            <a:extLst>
              <a:ext uri="{FF2B5EF4-FFF2-40B4-BE49-F238E27FC236}">
                <a16:creationId xmlns:a16="http://schemas.microsoft.com/office/drawing/2014/main" id="{7F78EA36-2B85-7C48-2356-041E00BA19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46" name="Google Shape;346;p11:notes">
            <a:extLst>
              <a:ext uri="{FF2B5EF4-FFF2-40B4-BE49-F238E27FC236}">
                <a16:creationId xmlns:a16="http://schemas.microsoft.com/office/drawing/2014/main" id="{964EE363-478B-F33B-2517-9EF67FF613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07089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98EC3621-F9A9-34F9-B6CA-E8F116470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>
            <a:extLst>
              <a:ext uri="{FF2B5EF4-FFF2-40B4-BE49-F238E27FC236}">
                <a16:creationId xmlns:a16="http://schemas.microsoft.com/office/drawing/2014/main" id="{3F370AED-BBCF-8C7C-43C7-D5D6178B2C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1:notes">
            <a:extLst>
              <a:ext uri="{FF2B5EF4-FFF2-40B4-BE49-F238E27FC236}">
                <a16:creationId xmlns:a16="http://schemas.microsoft.com/office/drawing/2014/main" id="{C5B8F53B-B0AE-2672-0E21-E81C44075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dirty="0"/>
          </a:p>
        </p:txBody>
      </p:sp>
      <p:sp>
        <p:nvSpPr>
          <p:cNvPr id="346" name="Google Shape;346;p11:notes">
            <a:extLst>
              <a:ext uri="{FF2B5EF4-FFF2-40B4-BE49-F238E27FC236}">
                <a16:creationId xmlns:a16="http://schemas.microsoft.com/office/drawing/2014/main" id="{9AFB10F5-5CCC-300B-6D4F-498EE0124D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8528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15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" name="Google Shape;12;p15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13" name="Google Shape;13;p15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" name="Google Shape;14;p15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" name="Google Shape;16;p15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6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6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6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16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16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1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29" name="Google Shape;29;p1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30" name="Google Shape;30;p1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" name="Google Shape;31;p1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32" name="Google Shape;32;p1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7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17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7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41" name="Google Shape;41;p1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8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18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6" name="Google Shape;46;p18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48" name="Google Shape;48;p1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9" name="Google Shape;49;p18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18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1" name="Google Shape;51;p18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2" name="Google Shape;52;p18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3" name="Google Shape;53;p18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9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56" name="Google Shape;56;p19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" name="Google Shape;57;p19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58" name="Google Shape;58;p19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19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9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63" name="Google Shape;63;p19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9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0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9" name="Google Shape;69;p20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0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20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2" name="Google Shape;72;p20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20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fr-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0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79" name="Google Shape;79;p2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80" name="Google Shape;80;p2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" name="Google Shape;81;p2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82" name="Google Shape;82;p2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2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1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87" name="Google Shape;87;p2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2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91" name="Google Shape;91;p22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2" name="Google Shape;92;p22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3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3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3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4" name="Google Shape;104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5" name="Google Shape;105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6" name="Google Shape;106;p23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3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2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1" name="Google Shape;111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2" name="Google Shape;112;p2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14" name="Google Shape;114;p2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5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25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9" name="Google Shape;119;p25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1" name="Google Shape;121;p25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2" name="Google Shape;122;p25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25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4" name="Google Shape;124;p25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5" name="Google Shape;125;p25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28" name="Google Shape;128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9" name="Google Shape;129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" name="Google Shape;130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131" name="Google Shape;131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fr-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36" name="Google Shape;136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40" name="Google Shape;140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41" name="Google Shape;141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2" name="Google Shape;142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143" name="Google Shape;143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fr-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48" name="Google Shape;148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Google Shape;152;p28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53" name="Google Shape;153;p2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54" name="Google Shape;154;p2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5" name="Google Shape;155;p2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156" name="Google Shape;156;p2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28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fr-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61" name="Google Shape;161;p2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69" name="Google Shape;169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0" name="Google Shape;170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71" name="Google Shape;171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2" name="Google Shape;172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30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77" name="Google Shape;177;p30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8" name="Google Shape;178;p30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79" name="Google Shape;179;p30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0" name="Google Shape;180;p30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1" name="Google Shape;181;p30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fr-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5" name="Google Shape;185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" name="Google Shape;186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187" name="Google Shape;187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fr-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32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4" name="Google Shape;194;p32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5" name="Google Shape;195;p32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196" name="Google Shape;196;p32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32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2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9" name="Google Shape;209;p3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0" name="Google Shape;21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3" name="Google Shape;21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7" name="Google Shape;217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1" name="Google Shape;221;p3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2" name="Google Shape;222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8" name="Google Shape;228;p4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9" name="Google Shape;229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2" name="Google Shape;232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6" name="Google Shape;236;p4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7" name="Google Shape;237;p4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8" name="Google Shape;238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41" name="Google Shape;241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4" name="Google Shape;244;p4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5" name="Google Shape;245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" name="Google Shape;20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" name="Google Shape;20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-FR"/>
              <a:t>Création et utilisation de la base de données</a:t>
            </a:r>
            <a:endParaRPr/>
          </a:p>
        </p:txBody>
      </p:sp>
      <p:sp>
        <p:nvSpPr>
          <p:cNvPr id="256" name="Google Shape;256;p1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/>
              <a:t>PIANEZZI Lucas</a:t>
            </a:r>
            <a:endParaRPr/>
          </a:p>
        </p:txBody>
      </p:sp>
      <p:pic>
        <p:nvPicPr>
          <p:cNvPr id="257" name="Google Shape;257;p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"/>
          <p:cNvSpPr txBox="1">
            <a:spLocks noGrp="1"/>
          </p:cNvSpPr>
          <p:nvPr>
            <p:ph type="title"/>
          </p:nvPr>
        </p:nvSpPr>
        <p:spPr>
          <a:xfrm>
            <a:off x="345193" y="66894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/>
              <a:t>Contexte du projet</a:t>
            </a:r>
            <a:endParaRPr/>
          </a:p>
        </p:txBody>
      </p:sp>
      <p:sp>
        <p:nvSpPr>
          <p:cNvPr id="265" name="Google Shape;265;p2"/>
          <p:cNvSpPr txBox="1">
            <a:spLocks noGrp="1"/>
          </p:cNvSpPr>
          <p:nvPr>
            <p:ph type="body" idx="2"/>
          </p:nvPr>
        </p:nvSpPr>
        <p:spPr>
          <a:xfrm>
            <a:off x="360434" y="162542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Objectifs de l’étude</a:t>
            </a:r>
            <a:endParaRPr/>
          </a:p>
        </p:txBody>
      </p:sp>
      <p:sp>
        <p:nvSpPr>
          <p:cNvPr id="266" name="Google Shape;266;p2"/>
          <p:cNvSpPr txBox="1">
            <a:spLocks noGrp="1"/>
          </p:cNvSpPr>
          <p:nvPr>
            <p:ph type="body" idx="1"/>
          </p:nvPr>
        </p:nvSpPr>
        <p:spPr>
          <a:xfrm>
            <a:off x="245440" y="1966117"/>
            <a:ext cx="4318940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10000"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17647"/>
              <a:buNone/>
            </a:pPr>
            <a:r>
              <a:rPr lang="fr-FR"/>
              <a:t>Accompagner la stratégie de développement de </a:t>
            </a:r>
            <a:r>
              <a:rPr lang="fr-FR" i="1"/>
              <a:t>Laplace Immo</a:t>
            </a:r>
            <a:r>
              <a:rPr lang="fr-FR"/>
              <a:t> en centralisant les indicateurs clés.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17647"/>
              <a:buNone/>
            </a:pPr>
            <a:r>
              <a:rPr lang="fr-FR" b="1"/>
              <a:t>Sources de Données à Unifier :</a:t>
            </a:r>
            <a:endParaRPr/>
          </a:p>
          <a:p>
            <a: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ct val="117647"/>
              <a:buFont typeface="Arial"/>
              <a:buChar char="•"/>
            </a:pPr>
            <a:r>
              <a:rPr lang="fr-FR" b="1"/>
              <a:t>DVF : </a:t>
            </a:r>
            <a:r>
              <a:rPr lang="fr-FR"/>
              <a:t>Historique des mutations et transactions foncières.</a:t>
            </a:r>
            <a:endParaRPr/>
          </a:p>
          <a:p>
            <a: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ct val="117647"/>
              <a:buFont typeface="Arial"/>
              <a:buChar char="•"/>
            </a:pPr>
            <a:r>
              <a:rPr lang="fr-FR" b="1"/>
              <a:t>INSEE :</a:t>
            </a:r>
            <a:r>
              <a:rPr lang="fr-FR"/>
              <a:t> Données démographiques.</a:t>
            </a:r>
            <a:endParaRPr/>
          </a:p>
          <a:p>
            <a: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ct val="117647"/>
              <a:buFont typeface="Arial"/>
              <a:buChar char="•"/>
            </a:pPr>
            <a:r>
              <a:rPr lang="fr-FR" b="1"/>
              <a:t>Data.gouv :</a:t>
            </a:r>
            <a:r>
              <a:rPr lang="fr-FR"/>
              <a:t> Référentiel géographique complet (Communes, Départements, Régions).</a:t>
            </a:r>
            <a:endParaRPr/>
          </a:p>
        </p:txBody>
      </p:sp>
      <p:pic>
        <p:nvPicPr>
          <p:cNvPr id="267" name="Google Shape;267;p2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-10687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8" name="Google Shape;268;p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-FR" b="0"/>
              <a:t>La stratégie de sauvegarde et la conformité RGPD</a:t>
            </a:r>
            <a:endParaRPr b="0"/>
          </a:p>
        </p:txBody>
      </p:sp>
      <p:sp>
        <p:nvSpPr>
          <p:cNvPr id="275" name="Google Shape;275;p3"/>
          <p:cNvSpPr txBox="1">
            <a:spLocks noGrp="1"/>
          </p:cNvSpPr>
          <p:nvPr>
            <p:ph type="body" idx="2"/>
          </p:nvPr>
        </p:nvSpPr>
        <p:spPr>
          <a:xfrm>
            <a:off x="1341120" y="1150619"/>
            <a:ext cx="5963860" cy="294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08108"/>
              <a:buFont typeface="Arial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8108"/>
              <a:buNone/>
            </a:pPr>
            <a:r>
              <a:rPr lang="fr-FR" b="1"/>
              <a:t>Conformité RGPD</a:t>
            </a:r>
            <a:endParaRPr b="1"/>
          </a:p>
          <a:p>
            <a: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08108"/>
              <a:buFont typeface="Arial"/>
              <a:buChar char="•"/>
            </a:pPr>
            <a:r>
              <a:rPr lang="fr-FR"/>
              <a:t>Identification d'une colonne critique (nom de l’acquéreur).</a:t>
            </a:r>
            <a:endParaRPr/>
          </a:p>
          <a:p>
            <a: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08108"/>
              <a:buFont typeface="Arial"/>
              <a:buChar char="•"/>
            </a:pPr>
            <a:r>
              <a:rPr lang="fr-FR"/>
              <a:t>Action de mise en conformité 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8108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8108"/>
              <a:buNone/>
            </a:pPr>
            <a:r>
              <a:rPr lang="fr-FR" b="1"/>
              <a:t>Stratégie de Sauvegarde </a:t>
            </a:r>
            <a:endParaRPr/>
          </a:p>
          <a:p>
            <a: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08108"/>
              <a:buFont typeface="Arial"/>
              <a:buChar char="•"/>
            </a:pPr>
            <a:r>
              <a:rPr lang="fr-FR"/>
              <a:t>Architecture mono-fichier : Centralisation complète de la base dans un fichier .db unique.</a:t>
            </a:r>
            <a:endParaRPr/>
          </a:p>
          <a:p>
            <a: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ct val="108108"/>
              <a:buFont typeface="Arial"/>
              <a:buChar char="•"/>
            </a:pPr>
            <a:r>
              <a:rPr lang="fr-FR"/>
              <a:t>Sécurisation : Export des copies du fichier.</a:t>
            </a:r>
            <a:endParaRPr/>
          </a:p>
        </p:txBody>
      </p:sp>
      <p:sp>
        <p:nvSpPr>
          <p:cNvPr id="276" name="Google Shape;276;p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/>
              <a:t>Les données initiales</a:t>
            </a:r>
            <a:endParaRPr b="0"/>
          </a:p>
        </p:txBody>
      </p:sp>
      <p:sp>
        <p:nvSpPr>
          <p:cNvPr id="283" name="Google Shape;283;p4"/>
          <p:cNvSpPr txBox="1">
            <a:spLocks noGrp="1"/>
          </p:cNvSpPr>
          <p:nvPr>
            <p:ph type="body" idx="2"/>
          </p:nvPr>
        </p:nvSpPr>
        <p:spPr>
          <a:xfrm>
            <a:off x="1247776" y="1247775"/>
            <a:ext cx="6877050" cy="292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20000"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8108"/>
              <a:buNone/>
            </a:pPr>
            <a:r>
              <a:rPr lang="fr-FR" b="1"/>
              <a:t>Fichier Transactions 	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8108"/>
              <a:buNone/>
            </a:pPr>
            <a:r>
              <a:rPr lang="fr-FR"/>
              <a:t>Mutations immobilières (dates, prix, surfaces, pièces).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8108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8108"/>
              <a:buNone/>
            </a:pPr>
            <a:r>
              <a:rPr lang="fr-FR" b="1"/>
              <a:t>Fichier Démographique 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8108"/>
              <a:buNone/>
            </a:pPr>
            <a:r>
              <a:rPr lang="fr-FR"/>
              <a:t>Recensement de la population par commune (PMUN : population municipale).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8108"/>
              <a:buNone/>
            </a:pPr>
            <a:endParaRPr/>
          </a:p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8108"/>
              <a:buNone/>
            </a:pPr>
            <a:r>
              <a:rPr lang="fr-FR" b="1"/>
              <a:t>Fichier Référentiel </a:t>
            </a:r>
            <a:endParaRPr/>
          </a:p>
          <a:p>
            <a:pPr marL="11430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8108"/>
              <a:buNone/>
            </a:pPr>
            <a:r>
              <a:rPr lang="fr-FR"/>
              <a:t>Maillage officiel (Régions, Départements, Coordonnées GPS Latitude/Longitude).</a:t>
            </a:r>
            <a:endParaRPr/>
          </a:p>
        </p:txBody>
      </p:sp>
      <p:sp>
        <p:nvSpPr>
          <p:cNvPr id="284" name="Google Shape;284;p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/>
              <a:t>Dictionnaire des données</a:t>
            </a:r>
            <a:endParaRPr b="0"/>
          </a:p>
        </p:txBody>
      </p:sp>
      <p:sp>
        <p:nvSpPr>
          <p:cNvPr id="291" name="Google Shape;291;p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199" y="1052529"/>
            <a:ext cx="8048625" cy="274153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5"/>
          <p:cNvSpPr txBox="1"/>
          <p:nvPr/>
        </p:nvSpPr>
        <p:spPr>
          <a:xfrm>
            <a:off x="719090" y="4109452"/>
            <a:ext cx="74927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Respect de la norme (3NF) :</a:t>
            </a:r>
            <a:r>
              <a:rPr lang="fr-FR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Déploiement d'un schéma composé de 6 tables principales.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-FR" b="0"/>
              <a:t>Le schéma relationnel normalisé</a:t>
            </a:r>
            <a:endParaRPr b="0"/>
          </a:p>
        </p:txBody>
      </p:sp>
      <p:sp>
        <p:nvSpPr>
          <p:cNvPr id="300" name="Google Shape;300;p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743803" y="1091822"/>
            <a:ext cx="794982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table TYPE_BIEN.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Concaténation code_insee.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fr-F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Création de nouvelle clés primaires.</a:t>
            </a:r>
            <a:endParaRPr/>
          </a:p>
        </p:txBody>
      </p:sp>
      <p:pic>
        <p:nvPicPr>
          <p:cNvPr id="302" name="Google Shape;30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8189" y="2329543"/>
            <a:ext cx="6427347" cy="2375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"/>
          <p:cNvSpPr txBox="1">
            <a:spLocks noGrp="1"/>
          </p:cNvSpPr>
          <p:nvPr>
            <p:ph type="title"/>
          </p:nvPr>
        </p:nvSpPr>
        <p:spPr>
          <a:xfrm>
            <a:off x="339581" y="589257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-FR" b="0"/>
              <a:t>La base de données avec les tables créées et les données chargées</a:t>
            </a:r>
            <a:endParaRPr b="0"/>
          </a:p>
        </p:txBody>
      </p:sp>
      <p:sp>
        <p:nvSpPr>
          <p:cNvPr id="309" name="Google Shape;309;p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119642" y="1521991"/>
            <a:ext cx="657071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Environnement de stockage (SQLite)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Limitation majeure : Absence de type de données DATE natif (stockées au format TEXT)</a:t>
            </a:r>
            <a:endParaRPr/>
          </a:p>
        </p:txBody>
      </p:sp>
      <p:sp>
        <p:nvSpPr>
          <p:cNvPr id="311" name="Google Shape;311;p7"/>
          <p:cNvSpPr txBox="1"/>
          <p:nvPr/>
        </p:nvSpPr>
        <p:spPr>
          <a:xfrm>
            <a:off x="114300" y="2092119"/>
            <a:ext cx="59664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Tables BIEN et MUTATION 🡪 même nombre de lignes (34 169)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Prouve l'absence totale de pertes et valide l’intégrité référentielle.</a:t>
            </a:r>
            <a:endParaRPr/>
          </a:p>
        </p:txBody>
      </p:sp>
      <p:pic>
        <p:nvPicPr>
          <p:cNvPr id="312" name="Google Shape;3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33700" y="2585410"/>
            <a:ext cx="5951220" cy="2558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-FR" sz="2400" b="0"/>
              <a:t>Les requêtes ou screenshot qui permettent de démontrer le bon chargement des données</a:t>
            </a:r>
            <a:endParaRPr sz="2400" b="0"/>
          </a:p>
        </p:txBody>
      </p:sp>
      <p:sp>
        <p:nvSpPr>
          <p:cNvPr id="319" name="Google Shape;319;p8"/>
          <p:cNvSpPr txBox="1">
            <a:spLocks noGrp="1"/>
          </p:cNvSpPr>
          <p:nvPr>
            <p:ph type="body" idx="2"/>
          </p:nvPr>
        </p:nvSpPr>
        <p:spPr>
          <a:xfrm>
            <a:off x="405763" y="1034595"/>
            <a:ext cx="4029077" cy="110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fr-FR" b="1"/>
              <a:t>Check Visuel</a:t>
            </a:r>
            <a:endParaRPr/>
          </a:p>
          <a:p>
            <a: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fr-FR" b="1"/>
              <a:t>Script de contrôle </a:t>
            </a:r>
            <a:endParaRPr/>
          </a:p>
          <a:p>
            <a: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fr-FR" b="1"/>
              <a:t>Sécurité des calculs </a:t>
            </a:r>
            <a:endParaRPr/>
          </a:p>
        </p:txBody>
      </p:sp>
      <p:sp>
        <p:nvSpPr>
          <p:cNvPr id="320" name="Google Shape;320;p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2540" y="2125980"/>
            <a:ext cx="2880680" cy="285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754" y="2114358"/>
            <a:ext cx="3774146" cy="2114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9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9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-FR" b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331" name="Google Shape;331;p9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Focus sur 3 défis techniques essentiels</a:t>
            </a:r>
            <a:endParaRPr/>
          </a:p>
        </p:txBody>
      </p:sp>
      <p:pic>
        <p:nvPicPr>
          <p:cNvPr id="333" name="Google Shape;333;p9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/>
              <a:t>Requête 5</a:t>
            </a:r>
            <a:endParaRPr/>
          </a:p>
        </p:txBody>
      </p:sp>
      <p:sp>
        <p:nvSpPr>
          <p:cNvPr id="340" name="Google Shape;340;p1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10</a:t>
            </a:fld>
            <a:endParaRPr/>
          </a:p>
        </p:txBody>
      </p:sp>
      <p:sp>
        <p:nvSpPr>
          <p:cNvPr id="341" name="Google Shape;341;p10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b="1"/>
              <a:t>Prix moyen du mètre carré d’une maison en Île-de-France.</a:t>
            </a:r>
            <a:endParaRPr/>
          </a:p>
        </p:txBody>
      </p:sp>
      <p:pic>
        <p:nvPicPr>
          <p:cNvPr id="342" name="Google Shape;34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5165" y="1614170"/>
            <a:ext cx="6429075" cy="291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9	</a:t>
            </a:r>
            <a:endParaRPr dirty="0"/>
          </a:p>
        </p:txBody>
      </p:sp>
      <p:sp>
        <p:nvSpPr>
          <p:cNvPr id="349" name="Google Shape;349;p1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  <p:sp>
        <p:nvSpPr>
          <p:cNvPr id="350" name="Google Shape;350;p11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b="1"/>
              <a:t>Liste des communes ayant eu au moins 50 ventes au 1er trimestre.</a:t>
            </a:r>
            <a:endParaRPr/>
          </a:p>
        </p:txBody>
      </p:sp>
      <p:pic>
        <p:nvPicPr>
          <p:cNvPr id="351" name="Google Shape;35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262" y="1821180"/>
            <a:ext cx="5351466" cy="2299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2508" y="100351"/>
            <a:ext cx="2548572" cy="4951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/>
              <a:t>Requête 11</a:t>
            </a:r>
            <a:endParaRPr/>
          </a:p>
        </p:txBody>
      </p:sp>
      <p:sp>
        <p:nvSpPr>
          <p:cNvPr id="359" name="Google Shape;359;p1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  <p:sp>
        <p:nvSpPr>
          <p:cNvPr id="360" name="Google Shape;360;p1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6703850" cy="154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b="1"/>
              <a:t>Les moyennes de valeurs foncières pour le top 3 des communes des départements 6, 13, 33, 59 et 69. </a:t>
            </a:r>
            <a:endParaRPr/>
          </a:p>
        </p:txBody>
      </p:sp>
      <p:pic>
        <p:nvPicPr>
          <p:cNvPr id="361" name="Google Shape;361;p12"/>
          <p:cNvPicPr preferRelativeResize="0"/>
          <p:nvPr/>
        </p:nvPicPr>
        <p:blipFill rotWithShape="1">
          <a:blip r:embed="rId3">
            <a:alphaModFix/>
          </a:blip>
          <a:srcRect b="40043"/>
          <a:stretch/>
        </p:blipFill>
        <p:spPr>
          <a:xfrm>
            <a:off x="312420" y="1745640"/>
            <a:ext cx="4320540" cy="307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5158" y="1765739"/>
            <a:ext cx="3374922" cy="307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1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2580706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Font typeface="Calibri"/>
              <a:buNone/>
            </a:pPr>
            <a:r>
              <a:rPr lang="fr-FR"/>
              <a:t>Merci de votre attention.</a:t>
            </a:r>
            <a:endParaRPr/>
          </a:p>
        </p:txBody>
      </p:sp>
      <p:pic>
        <p:nvPicPr>
          <p:cNvPr id="371" name="Google Shape;371;p1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>
          <a:extLst>
            <a:ext uri="{FF2B5EF4-FFF2-40B4-BE49-F238E27FC236}">
              <a16:creationId xmlns:a16="http://schemas.microsoft.com/office/drawing/2014/main" id="{F4202AE4-5446-513B-8C86-ADF57AF60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13" title="Image de bâtiment">
            <a:extLst>
              <a:ext uri="{FF2B5EF4-FFF2-40B4-BE49-F238E27FC236}">
                <a16:creationId xmlns:a16="http://schemas.microsoft.com/office/drawing/2014/main" id="{D595C759-7AA5-E809-DA51-029D276B466B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3" descr="Hexagone de couleur foncée unie au milieu d’accentuation d’image">
            <a:extLst>
              <a:ext uri="{FF2B5EF4-FFF2-40B4-BE49-F238E27FC236}">
                <a16:creationId xmlns:a16="http://schemas.microsoft.com/office/drawing/2014/main" id="{B39FFF5B-7F85-AA2F-BE21-63F50CE74CC9}"/>
              </a:ext>
            </a:extLst>
          </p:cNvPr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>
            <a:extLst>
              <a:ext uri="{FF2B5EF4-FFF2-40B4-BE49-F238E27FC236}">
                <a16:creationId xmlns:a16="http://schemas.microsoft.com/office/drawing/2014/main" id="{51DB80C6-9A24-4F31-488C-CE1856EE8F8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99736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Font typeface="Calibri"/>
              <a:buNone/>
            </a:pPr>
            <a:r>
              <a:rPr lang="fr-FR" dirty="0"/>
              <a:t>Annexes - Requêtes</a:t>
            </a:r>
            <a:endParaRPr dirty="0"/>
          </a:p>
        </p:txBody>
      </p:sp>
      <p:pic>
        <p:nvPicPr>
          <p:cNvPr id="371" name="Google Shape;371;p13" descr="https://lh5.googleusercontent.com/TcdnvzxQ7ulQo8GiFwfIKujloK6EfAJv7ikP-EvnfdTVQnROS3WXw6XSx9Cpd73e_l7GCUAnbxroB-qlzG2fvYdCyl-Y5QZ95MpiD-GfDN-4taJyHRqsr3vOZzc3ONTBu52b0HIdUOMeHvdHiA_5tD0">
            <a:extLst>
              <a:ext uri="{FF2B5EF4-FFF2-40B4-BE49-F238E27FC236}">
                <a16:creationId xmlns:a16="http://schemas.microsoft.com/office/drawing/2014/main" id="{45ED83A3-311E-85AF-B07F-7AACD86061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377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E1DDA85E-501C-8296-D6F3-9193E15A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>
            <a:extLst>
              <a:ext uri="{FF2B5EF4-FFF2-40B4-BE49-F238E27FC236}">
                <a16:creationId xmlns:a16="http://schemas.microsoft.com/office/drawing/2014/main" id="{699B980E-110B-AF6A-9E09-FA00699BB2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1	</a:t>
            </a:r>
            <a:endParaRPr dirty="0"/>
          </a:p>
        </p:txBody>
      </p:sp>
      <p:sp>
        <p:nvSpPr>
          <p:cNvPr id="349" name="Google Shape;349;p11">
            <a:extLst>
              <a:ext uri="{FF2B5EF4-FFF2-40B4-BE49-F238E27FC236}">
                <a16:creationId xmlns:a16="http://schemas.microsoft.com/office/drawing/2014/main" id="{860E916C-80F2-AD56-2004-F4F92AD62D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15</a:t>
            </a:fld>
            <a:endParaRPr/>
          </a:p>
        </p:txBody>
      </p:sp>
      <p:sp>
        <p:nvSpPr>
          <p:cNvPr id="350" name="Google Shape;350;p11">
            <a:extLst>
              <a:ext uri="{FF2B5EF4-FFF2-40B4-BE49-F238E27FC236}">
                <a16:creationId xmlns:a16="http://schemas.microsoft.com/office/drawing/2014/main" id="{2661716E-ADBD-DCEF-430A-93F905B85F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282" y="1032699"/>
            <a:ext cx="5739535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b="1" dirty="0"/>
              <a:t>Nombre total d’appartements vendus au 1er semestre 2020. 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D159FEA-B523-4FDD-0F0A-48EBE4433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95" y="1617497"/>
            <a:ext cx="6006115" cy="281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53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83DE701E-DC07-76B6-C9A8-6D77F91F6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>
            <a:extLst>
              <a:ext uri="{FF2B5EF4-FFF2-40B4-BE49-F238E27FC236}">
                <a16:creationId xmlns:a16="http://schemas.microsoft.com/office/drawing/2014/main" id="{01D0128F-DA6D-1DD2-F06B-AEC8919B77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2	</a:t>
            </a:r>
            <a:endParaRPr dirty="0"/>
          </a:p>
        </p:txBody>
      </p:sp>
      <p:sp>
        <p:nvSpPr>
          <p:cNvPr id="349" name="Google Shape;349;p11">
            <a:extLst>
              <a:ext uri="{FF2B5EF4-FFF2-40B4-BE49-F238E27FC236}">
                <a16:creationId xmlns:a16="http://schemas.microsoft.com/office/drawing/2014/main" id="{F07E0703-68FA-F0D8-8576-9696B604E0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16</a:t>
            </a:fld>
            <a:endParaRPr/>
          </a:p>
        </p:txBody>
      </p:sp>
      <p:sp>
        <p:nvSpPr>
          <p:cNvPr id="350" name="Google Shape;350;p11">
            <a:extLst>
              <a:ext uri="{FF2B5EF4-FFF2-40B4-BE49-F238E27FC236}">
                <a16:creationId xmlns:a16="http://schemas.microsoft.com/office/drawing/2014/main" id="{BC381ADD-A469-0823-356B-71EC7BE27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282" y="1032699"/>
            <a:ext cx="6531428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b="1" dirty="0"/>
              <a:t>Le nombre de ventes d’appartement par région pour le 1er semestre 2020. 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94F2189-81B2-3600-3F06-CB359381A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524" y="1504321"/>
            <a:ext cx="2977910" cy="355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02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58194EA6-E869-9054-D53A-AFDF537E3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>
            <a:extLst>
              <a:ext uri="{FF2B5EF4-FFF2-40B4-BE49-F238E27FC236}">
                <a16:creationId xmlns:a16="http://schemas.microsoft.com/office/drawing/2014/main" id="{3FDB4CC9-E195-CCD6-EB4C-650C2E5EC8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3	</a:t>
            </a:r>
            <a:endParaRPr dirty="0"/>
          </a:p>
        </p:txBody>
      </p:sp>
      <p:sp>
        <p:nvSpPr>
          <p:cNvPr id="349" name="Google Shape;349;p11">
            <a:extLst>
              <a:ext uri="{FF2B5EF4-FFF2-40B4-BE49-F238E27FC236}">
                <a16:creationId xmlns:a16="http://schemas.microsoft.com/office/drawing/2014/main" id="{ACF7B2F6-ACAD-4511-3CC9-4C78598D7A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17</a:t>
            </a:fld>
            <a:endParaRPr/>
          </a:p>
        </p:txBody>
      </p:sp>
      <p:sp>
        <p:nvSpPr>
          <p:cNvPr id="350" name="Google Shape;350;p11">
            <a:extLst>
              <a:ext uri="{FF2B5EF4-FFF2-40B4-BE49-F238E27FC236}">
                <a16:creationId xmlns:a16="http://schemas.microsoft.com/office/drawing/2014/main" id="{A5231C79-68B6-8E30-1EAD-08BACE2D08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282" y="1032699"/>
            <a:ext cx="5739535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b="1" dirty="0"/>
              <a:t>Proportion des ventes d’appartements par le nombre de pièces.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FE20D79-5FF9-DCA4-A8C5-97A8CC3AF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407" y="1689623"/>
            <a:ext cx="5760720" cy="290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06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35600C12-E0CD-675E-1DFC-03BF5ACDA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>
            <a:extLst>
              <a:ext uri="{FF2B5EF4-FFF2-40B4-BE49-F238E27FC236}">
                <a16:creationId xmlns:a16="http://schemas.microsoft.com/office/drawing/2014/main" id="{60A8941E-8D42-C219-C147-B9C7AFD84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4	</a:t>
            </a:r>
            <a:endParaRPr dirty="0"/>
          </a:p>
        </p:txBody>
      </p:sp>
      <p:sp>
        <p:nvSpPr>
          <p:cNvPr id="349" name="Google Shape;349;p11">
            <a:extLst>
              <a:ext uri="{FF2B5EF4-FFF2-40B4-BE49-F238E27FC236}">
                <a16:creationId xmlns:a16="http://schemas.microsoft.com/office/drawing/2014/main" id="{99A4D93B-D233-4E0D-0F76-837FC809A3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18</a:t>
            </a:fld>
            <a:endParaRPr/>
          </a:p>
        </p:txBody>
      </p:sp>
      <p:sp>
        <p:nvSpPr>
          <p:cNvPr id="350" name="Google Shape;350;p11">
            <a:extLst>
              <a:ext uri="{FF2B5EF4-FFF2-40B4-BE49-F238E27FC236}">
                <a16:creationId xmlns:a16="http://schemas.microsoft.com/office/drawing/2014/main" id="{A51111C7-D8B6-410A-3E0E-BA5866D202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282" y="1032699"/>
            <a:ext cx="6083559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b="1" dirty="0"/>
              <a:t>Liste des 10 départements où le prix du mètre carré est le plus élevé. 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64A5911-1B59-FAFD-7AC0-07A1C797D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052" y="1486218"/>
            <a:ext cx="5760720" cy="328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24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B7CC5FBA-17B6-D063-085F-78721572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>
            <a:extLst>
              <a:ext uri="{FF2B5EF4-FFF2-40B4-BE49-F238E27FC236}">
                <a16:creationId xmlns:a16="http://schemas.microsoft.com/office/drawing/2014/main" id="{52D49778-3396-DBB3-DF3E-17D97C4EE2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6	</a:t>
            </a:r>
            <a:endParaRPr dirty="0"/>
          </a:p>
        </p:txBody>
      </p:sp>
      <p:sp>
        <p:nvSpPr>
          <p:cNvPr id="349" name="Google Shape;349;p11">
            <a:extLst>
              <a:ext uri="{FF2B5EF4-FFF2-40B4-BE49-F238E27FC236}">
                <a16:creationId xmlns:a16="http://schemas.microsoft.com/office/drawing/2014/main" id="{E5CF6724-BD77-86DE-E057-D2B2C4215D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19</a:t>
            </a:fld>
            <a:endParaRPr/>
          </a:p>
        </p:txBody>
      </p:sp>
      <p:sp>
        <p:nvSpPr>
          <p:cNvPr id="350" name="Google Shape;350;p11">
            <a:extLst>
              <a:ext uri="{FF2B5EF4-FFF2-40B4-BE49-F238E27FC236}">
                <a16:creationId xmlns:a16="http://schemas.microsoft.com/office/drawing/2014/main" id="{2BC3D2F8-C75D-CA21-BA10-F323D83873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282" y="1032699"/>
            <a:ext cx="7315200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b="1" dirty="0"/>
              <a:t>Liste des 10 appartements les plus chers avec la région et le nombre de mètres carrés.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811D7D4-AE72-E3AF-1773-F57D7D1CA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273" y="1468891"/>
            <a:ext cx="3275453" cy="351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21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B3F7CC14-2DFE-DF60-071F-6D89D6EF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>
            <a:extLst>
              <a:ext uri="{FF2B5EF4-FFF2-40B4-BE49-F238E27FC236}">
                <a16:creationId xmlns:a16="http://schemas.microsoft.com/office/drawing/2014/main" id="{319333FE-9555-4AB9-AF16-62DDB365B2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7	</a:t>
            </a:r>
            <a:endParaRPr dirty="0"/>
          </a:p>
        </p:txBody>
      </p:sp>
      <p:sp>
        <p:nvSpPr>
          <p:cNvPr id="349" name="Google Shape;349;p11">
            <a:extLst>
              <a:ext uri="{FF2B5EF4-FFF2-40B4-BE49-F238E27FC236}">
                <a16:creationId xmlns:a16="http://schemas.microsoft.com/office/drawing/2014/main" id="{092F6807-54E1-E839-4942-46AF9D44E1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20</a:t>
            </a:fld>
            <a:endParaRPr/>
          </a:p>
        </p:txBody>
      </p:sp>
      <p:sp>
        <p:nvSpPr>
          <p:cNvPr id="350" name="Google Shape;350;p11">
            <a:extLst>
              <a:ext uri="{FF2B5EF4-FFF2-40B4-BE49-F238E27FC236}">
                <a16:creationId xmlns:a16="http://schemas.microsoft.com/office/drawing/2014/main" id="{BE8A1152-5D63-68D4-56FF-EC683395F4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282" y="1032699"/>
            <a:ext cx="773507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b="1" dirty="0"/>
              <a:t>Taux d’évolution du nombre de ventes entre le premier et le second trimestre de 2020. 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39C1D10-D494-4CAF-6001-3B22D2A6B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11" y="1649697"/>
            <a:ext cx="6846870" cy="302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972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A16B8EA0-2C7C-0467-C519-691C44593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>
            <a:extLst>
              <a:ext uri="{FF2B5EF4-FFF2-40B4-BE49-F238E27FC236}">
                <a16:creationId xmlns:a16="http://schemas.microsoft.com/office/drawing/2014/main" id="{F0267A0E-F0D9-8705-696F-C32292FA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8	</a:t>
            </a:r>
            <a:endParaRPr dirty="0"/>
          </a:p>
        </p:txBody>
      </p:sp>
      <p:sp>
        <p:nvSpPr>
          <p:cNvPr id="349" name="Google Shape;349;p11">
            <a:extLst>
              <a:ext uri="{FF2B5EF4-FFF2-40B4-BE49-F238E27FC236}">
                <a16:creationId xmlns:a16="http://schemas.microsoft.com/office/drawing/2014/main" id="{F64EF646-6808-E69C-0C60-C3A0627E35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21</a:t>
            </a:fld>
            <a:endParaRPr/>
          </a:p>
        </p:txBody>
      </p:sp>
      <p:sp>
        <p:nvSpPr>
          <p:cNvPr id="350" name="Google Shape;350;p11">
            <a:extLst>
              <a:ext uri="{FF2B5EF4-FFF2-40B4-BE49-F238E27FC236}">
                <a16:creationId xmlns:a16="http://schemas.microsoft.com/office/drawing/2014/main" id="{6EC27552-CB11-1764-10B3-D17FB9C71A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281" y="1032699"/>
            <a:ext cx="7119257" cy="584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b="1" dirty="0"/>
              <a:t>Le classement des régions par rapport au prix au mètre carré des appartement de plus de 4 pièces. 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A74BC26-3A7C-9532-E53F-B60077DCE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032" y="1617497"/>
            <a:ext cx="4283076" cy="314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88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99A47F23-1A3E-433E-6BDF-489AE33C1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>
            <a:extLst>
              <a:ext uri="{FF2B5EF4-FFF2-40B4-BE49-F238E27FC236}">
                <a16:creationId xmlns:a16="http://schemas.microsoft.com/office/drawing/2014/main" id="{120A1BFE-7D73-9177-28F2-EF249196A0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10	</a:t>
            </a:r>
            <a:endParaRPr dirty="0"/>
          </a:p>
        </p:txBody>
      </p:sp>
      <p:sp>
        <p:nvSpPr>
          <p:cNvPr id="349" name="Google Shape;349;p11">
            <a:extLst>
              <a:ext uri="{FF2B5EF4-FFF2-40B4-BE49-F238E27FC236}">
                <a16:creationId xmlns:a16="http://schemas.microsoft.com/office/drawing/2014/main" id="{844EB5B0-55BC-FD5C-7FFF-7782E6CCE4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22</a:t>
            </a:fld>
            <a:endParaRPr/>
          </a:p>
        </p:txBody>
      </p:sp>
      <p:sp>
        <p:nvSpPr>
          <p:cNvPr id="350" name="Google Shape;350;p11">
            <a:extLst>
              <a:ext uri="{FF2B5EF4-FFF2-40B4-BE49-F238E27FC236}">
                <a16:creationId xmlns:a16="http://schemas.microsoft.com/office/drawing/2014/main" id="{E0763867-E4B9-9728-BD21-54B1117836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282" y="1032699"/>
            <a:ext cx="5739535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b="1" dirty="0"/>
              <a:t>Différence en pourcentage du prix au mètre carré entre un appartement de 2 pièces et un appartement de 3 pièces. 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B497997-B616-CFD1-F72B-0D149B33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77" y="1963748"/>
            <a:ext cx="6756936" cy="264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155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>
          <a:extLst>
            <a:ext uri="{FF2B5EF4-FFF2-40B4-BE49-F238E27FC236}">
              <a16:creationId xmlns:a16="http://schemas.microsoft.com/office/drawing/2014/main" id="{E4FDC06E-588B-D054-E7E6-BE80DABAC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>
            <a:extLst>
              <a:ext uri="{FF2B5EF4-FFF2-40B4-BE49-F238E27FC236}">
                <a16:creationId xmlns:a16="http://schemas.microsoft.com/office/drawing/2014/main" id="{1F6EE03D-69C1-F876-4C8C-2008A8BBE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-FR" b="0" dirty="0"/>
              <a:t>Requête 12	</a:t>
            </a:r>
            <a:endParaRPr dirty="0"/>
          </a:p>
        </p:txBody>
      </p:sp>
      <p:sp>
        <p:nvSpPr>
          <p:cNvPr id="349" name="Google Shape;349;p11">
            <a:extLst>
              <a:ext uri="{FF2B5EF4-FFF2-40B4-BE49-F238E27FC236}">
                <a16:creationId xmlns:a16="http://schemas.microsoft.com/office/drawing/2014/main" id="{F5059C88-83C3-429C-F1F5-F3D1029CF6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23</a:t>
            </a:fld>
            <a:endParaRPr/>
          </a:p>
        </p:txBody>
      </p:sp>
      <p:sp>
        <p:nvSpPr>
          <p:cNvPr id="350" name="Google Shape;350;p11">
            <a:extLst>
              <a:ext uri="{FF2B5EF4-FFF2-40B4-BE49-F238E27FC236}">
                <a16:creationId xmlns:a16="http://schemas.microsoft.com/office/drawing/2014/main" id="{B085AD90-DA31-02E3-85AA-08E7797CD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282" y="1032699"/>
            <a:ext cx="6372808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fr-FR" b="1" dirty="0"/>
              <a:t>Les 20 communes avec le plus de transactions pour 1000 habitants pour les communes qui dépassent les 10 000 habitants.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E4F0F74-99DB-4E0C-3F3A-A17170B26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569870"/>
            <a:ext cx="4989078" cy="347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842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560</Words>
  <Application>Microsoft Office PowerPoint</Application>
  <PresentationFormat>Affichage à l'écran (16:9)</PresentationFormat>
  <Paragraphs>114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Arial Black</vt:lpstr>
      <vt:lpstr>Arial</vt:lpstr>
      <vt:lpstr>Calibri</vt:lpstr>
      <vt:lpstr>Thème Office</vt:lpstr>
      <vt:lpstr>Simple Light</vt:lpstr>
      <vt:lpstr>Création et utilisation de la base de données</vt:lpstr>
      <vt:lpstr>Contexte du projet</vt:lpstr>
      <vt:lpstr>La stratégie de sauvegarde et la conformité RGPD</vt:lpstr>
      <vt:lpstr>Les données initiales</vt:lpstr>
      <vt:lpstr>Dictionnaire des données</vt:lpstr>
      <vt:lpstr>Le schéma relationnel normalisé</vt:lpstr>
      <vt:lpstr>La base de données avec les tables créées et les données chargées</vt:lpstr>
      <vt:lpstr>Les requêtes ou screenshot qui permettent de démontrer le bon chargement des données</vt:lpstr>
      <vt:lpstr>Requêtes SQL et résultats</vt:lpstr>
      <vt:lpstr>Requête 5</vt:lpstr>
      <vt:lpstr>Requête 9 </vt:lpstr>
      <vt:lpstr>Requête 11</vt:lpstr>
      <vt:lpstr>Merci de votre attention.</vt:lpstr>
      <vt:lpstr>Annexes - Requêtes</vt:lpstr>
      <vt:lpstr>Requête 1 </vt:lpstr>
      <vt:lpstr>Requête 2 </vt:lpstr>
      <vt:lpstr>Requête 3 </vt:lpstr>
      <vt:lpstr>Requête 4 </vt:lpstr>
      <vt:lpstr>Requête 6 </vt:lpstr>
      <vt:lpstr>Requête 7 </vt:lpstr>
      <vt:lpstr>Requête 8 </vt:lpstr>
      <vt:lpstr>Requête 10 </vt:lpstr>
      <vt:lpstr>Requête 12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Lucas PIANEZZI</cp:lastModifiedBy>
  <cp:revision>12</cp:revision>
  <dcterms:modified xsi:type="dcterms:W3CDTF">2026-06-02T08:25:12Z</dcterms:modified>
</cp:coreProperties>
</file>